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embeddedFontLst>
    <p:embeddedFont>
      <p:font typeface="Proxima Nova"/>
      <p:regular r:id="rId12"/>
      <p:bold r:id="rId13"/>
      <p:italic r:id="rId14"/>
      <p:boldItalic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ProximaNova-bold.fntdata"/><Relationship Id="rId12" Type="http://schemas.openxmlformats.org/officeDocument/2006/relationships/font" Target="fonts/ProximaNova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ProximaNova-boldItalic.fntdata"/><Relationship Id="rId14" Type="http://schemas.openxmlformats.org/officeDocument/2006/relationships/font" Target="fonts/ProximaNova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d91f8b3171_0_1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d91f8b3171_0_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d91f8b3171_0_1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d91f8b3171_0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d91f8b3171_0_1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d91f8b3171_0_1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d91f8b3171_0_1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d91f8b3171_0_1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d91f8b3171_1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d91f8b3171_1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" name="Google Shape;11;p2"/>
          <p:cNvSpPr txBox="1"/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Google Shape;15;p3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" name="Google Shape;16;p3"/>
          <p:cNvSpPr txBox="1"/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>
            <p:ph type="title"/>
          </p:nvPr>
        </p:nvSpPr>
        <p:spPr>
          <a:xfrm>
            <a:off x="490250" y="526350"/>
            <a:ext cx="57975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4572000" y="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0" name="Google Shape;4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9"/>
          <p:cNvSpPr txBox="1"/>
          <p:nvPr>
            <p:ph type="title"/>
          </p:nvPr>
        </p:nvSpPr>
        <p:spPr>
          <a:xfrm>
            <a:off x="265500" y="1205825"/>
            <a:ext cx="4045200" cy="1509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idx="1" type="body"/>
          </p:nvPr>
        </p:nvSpPr>
        <p:spPr>
          <a:xfrm>
            <a:off x="311700" y="42368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</a:lstStyle>
          <a:p/>
        </p:txBody>
      </p:sp>
      <p:sp>
        <p:nvSpPr>
          <p:cNvPr id="47" name="Google Shape;47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991475"/>
            <a:ext cx="8520600" cy="191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071300"/>
            <a:ext cx="8520600" cy="9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pearmint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roxima Nova"/>
              <a:buChar char="●"/>
              <a:defRPr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gif"/><Relationship Id="rId4" Type="http://schemas.openxmlformats.org/officeDocument/2006/relationships/image" Target="../media/image2.png"/><Relationship Id="rId5" Type="http://schemas.openxmlformats.org/officeDocument/2006/relationships/hyperlink" Target="https://www.anaconda.com/docs/getting-started/miniconda/main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6.gif"/><Relationship Id="rId5" Type="http://schemas.openxmlformats.org/officeDocument/2006/relationships/hyperlink" Target="https://github.com/terradezEdu/UCV-Churn" TargetMode="External"/><Relationship Id="rId6" Type="http://schemas.openxmlformats.org/officeDocument/2006/relationships/hyperlink" Target="https://github.com/terradezEdu/UCV-Churn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gif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9.png"/><Relationship Id="rId5" Type="http://schemas.openxmlformats.org/officeDocument/2006/relationships/image" Target="../media/image7.png"/><Relationship Id="rId6" Type="http://schemas.openxmlformats.org/officeDocument/2006/relationships/image" Target="../media/image1.png"/><Relationship Id="rId7" Type="http://schemas.openxmlformats.org/officeDocument/2006/relationships/hyperlink" Target="https://chatgpt.com/codex/cloud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El Entorno de Trabajo</a:t>
            </a:r>
            <a:endParaRPr/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Consejos sobre nuestro entorno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VSCode</a:t>
            </a:r>
            <a:endParaRPr/>
          </a:p>
        </p:txBody>
      </p:sp>
      <p:pic>
        <p:nvPicPr>
          <p:cNvPr id="66" name="Google Shape;6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18952" y="996863"/>
            <a:ext cx="5879773" cy="314977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rchivo:Visual Studio Code 1.35 icon.svg - Wikipedia, la ..." id="67" name="Google Shape;67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9825" y="1106775"/>
            <a:ext cx="711850" cy="711850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4"/>
          <p:cNvSpPr txBox="1"/>
          <p:nvPr/>
        </p:nvSpPr>
        <p:spPr>
          <a:xfrm>
            <a:off x="246600" y="1965625"/>
            <a:ext cx="24102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/>
              <a:t>es un editor de código ligero, gratuito y muy utilizado en entornos profesionales de programación y ciencia de datos. Permite escribir código en múltiples lenguajes (como Python, SQL o JavaScript), instalar extensiones, usar terminal integrada y conectarse fácilmente con GitHub. </a:t>
            </a:r>
            <a:endParaRPr sz="1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MiniConda</a:t>
            </a:r>
            <a:endParaRPr/>
          </a:p>
        </p:txBody>
      </p:sp>
      <p:sp>
        <p:nvSpPr>
          <p:cNvPr id="74" name="Google Shape;74;p15"/>
          <p:cNvSpPr txBox="1"/>
          <p:nvPr/>
        </p:nvSpPr>
        <p:spPr>
          <a:xfrm>
            <a:off x="246600" y="1965625"/>
            <a:ext cx="2410200" cy="13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/>
              <a:t>es una distribución mínima de Python que incluye </a:t>
            </a:r>
            <a:r>
              <a:rPr b="1" lang="es" sz="1100"/>
              <a:t>Conda</a:t>
            </a:r>
            <a:r>
              <a:rPr lang="es" sz="1100"/>
              <a:t>, un gestor de entornos y paquetes. Sirve para instalar Python y crear entornos aislados para cada proyecto, evitando conflictos entre versiones de librerías. </a:t>
            </a:r>
            <a:endParaRPr sz="1200"/>
          </a:p>
        </p:txBody>
      </p:sp>
      <p:pic>
        <p:nvPicPr>
          <p:cNvPr descr="a blue and yellow python logo is shown on a white background (proporcionado por Tenor)" id="75" name="Google Shape;7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017725"/>
            <a:ext cx="962400" cy="687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64800" y="1600151"/>
            <a:ext cx="5425100" cy="2100751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5"/>
          <p:cNvSpPr/>
          <p:nvPr/>
        </p:nvSpPr>
        <p:spPr>
          <a:xfrm>
            <a:off x="4677525" y="1648550"/>
            <a:ext cx="2386800" cy="3171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8" name="Google Shape;78;p15"/>
          <p:cNvSpPr txBox="1"/>
          <p:nvPr/>
        </p:nvSpPr>
        <p:spPr>
          <a:xfrm>
            <a:off x="4372250" y="4054525"/>
            <a:ext cx="2410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u="sng">
                <a:solidFill>
                  <a:schemeClr val="hlink"/>
                </a:solidFill>
                <a:hlinkClick r:id="rId5"/>
              </a:rPr>
              <a:t>Miniconda - Anaconda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GitHub</a:t>
            </a:r>
            <a:endParaRPr/>
          </a:p>
        </p:txBody>
      </p:sp>
      <p:sp>
        <p:nvSpPr>
          <p:cNvPr id="84" name="Google Shape;84;p16"/>
          <p:cNvSpPr txBox="1"/>
          <p:nvPr/>
        </p:nvSpPr>
        <p:spPr>
          <a:xfrm>
            <a:off x="311700" y="2717250"/>
            <a:ext cx="2410200" cy="13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/>
              <a:t>es una distribución mínima de Python que incluye </a:t>
            </a:r>
            <a:r>
              <a:rPr b="1" lang="es" sz="1100"/>
              <a:t>Conda</a:t>
            </a:r>
            <a:r>
              <a:rPr lang="es" sz="1100"/>
              <a:t>, un gestor de entornos y paquetes. Sirve para instalar Python y crear entornos aislados para cada proyecto, evitando conflictos entre versiones de librerías. </a:t>
            </a:r>
            <a:endParaRPr sz="1200"/>
          </a:p>
        </p:txBody>
      </p:sp>
      <p:pic>
        <p:nvPicPr>
          <p:cNvPr id="85" name="Google Shape;8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34450" y="1214000"/>
            <a:ext cx="5797839" cy="2873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ilhouette of a cat with a tail in a black circle (proporcionado por Tenor)" id="86" name="Google Shape;86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5300" y="1325925"/>
            <a:ext cx="990700" cy="9907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6">
            <a:hlinkClick r:id="rId5"/>
          </p:cNvPr>
          <p:cNvSpPr txBox="1"/>
          <p:nvPr/>
        </p:nvSpPr>
        <p:spPr>
          <a:xfrm>
            <a:off x="3413375" y="4283325"/>
            <a:ext cx="504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u="sng">
                <a:solidFill>
                  <a:schemeClr val="hlink"/>
                </a:solidFill>
                <a:hlinkClick r:id="rId6"/>
              </a:rPr>
              <a:t>https://github.com/terradezEdu/UCV-Churn</a:t>
            </a:r>
            <a:endParaRPr>
              <a:solidFill>
                <a:srgbClr val="0000FF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GitHub + VSCode</a:t>
            </a:r>
            <a:endParaRPr/>
          </a:p>
        </p:txBody>
      </p:sp>
      <p:pic>
        <p:nvPicPr>
          <p:cNvPr descr="a silhouette of a cat with a tail in a black circle (proporcionado por Tenor)" id="93" name="Google Shape;9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4450" y="2674625"/>
            <a:ext cx="990700" cy="9907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7"/>
          <p:cNvSpPr txBox="1"/>
          <p:nvPr/>
        </p:nvSpPr>
        <p:spPr>
          <a:xfrm>
            <a:off x="2357675" y="1017725"/>
            <a:ext cx="3002100" cy="122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s" sz="1200"/>
              <a:t>1. Crear una cuenta en GitHub</a:t>
            </a:r>
            <a:endParaRPr b="1" sz="1200"/>
          </a:p>
          <a:p>
            <a:pPr indent="-2667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600"/>
              <a:buAutoNum type="arabicPeriod"/>
            </a:pPr>
            <a:r>
              <a:rPr lang="es" sz="600"/>
              <a:t>Entra en GitHub</a:t>
            </a:r>
            <a:endParaRPr sz="600"/>
          </a:p>
          <a:p>
            <a:pPr indent="-266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"/>
              <a:buAutoNum type="arabicPeriod"/>
            </a:pPr>
            <a:r>
              <a:rPr lang="es" sz="600"/>
              <a:t>Pulsa </a:t>
            </a:r>
            <a:r>
              <a:rPr b="1" lang="es" sz="600"/>
              <a:t>Sign Up</a:t>
            </a:r>
            <a:r>
              <a:rPr lang="es" sz="600"/>
              <a:t>.</a:t>
            </a:r>
            <a:endParaRPr sz="600"/>
          </a:p>
          <a:p>
            <a:pPr indent="-266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"/>
              <a:buAutoNum type="arabicPeriod"/>
            </a:pPr>
            <a:r>
              <a:rPr lang="es" sz="600"/>
              <a:t>Crea usuario, correo y contraseña.</a:t>
            </a:r>
            <a:endParaRPr sz="600"/>
          </a:p>
          <a:p>
            <a:pPr indent="-266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"/>
              <a:buAutoNum type="arabicPeriod"/>
            </a:pPr>
            <a:r>
              <a:rPr lang="es" sz="600"/>
              <a:t>Verifica el email.</a:t>
            </a:r>
            <a:endParaRPr sz="6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600"/>
              <a:t>Recomendación: usar un nombre profesional, ya que puede servir como portfolio.</a:t>
            </a:r>
            <a:endParaRPr sz="600"/>
          </a:p>
        </p:txBody>
      </p:sp>
      <p:sp>
        <p:nvSpPr>
          <p:cNvPr id="95" name="Google Shape;95;p17"/>
          <p:cNvSpPr txBox="1"/>
          <p:nvPr/>
        </p:nvSpPr>
        <p:spPr>
          <a:xfrm>
            <a:off x="2442550" y="2239925"/>
            <a:ext cx="3000000" cy="24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s" sz="1200"/>
              <a:t>2. Instalar Git en el ordenador</a:t>
            </a:r>
            <a:endParaRPr b="1" sz="1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600"/>
              <a:t>Git es necesario para conectar VSCode con GitHub.</a:t>
            </a:r>
            <a:endParaRPr sz="600"/>
          </a:p>
          <a:p>
            <a:pPr indent="-2667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600"/>
              <a:buAutoNum type="arabicPeriod"/>
            </a:pPr>
            <a:r>
              <a:rPr lang="es" sz="600"/>
              <a:t>Busca en Google: </a:t>
            </a:r>
            <a:r>
              <a:rPr b="1" lang="es" sz="600"/>
              <a:t>Git for Windows</a:t>
            </a:r>
            <a:r>
              <a:rPr lang="es" sz="600"/>
              <a:t> o </a:t>
            </a:r>
            <a:r>
              <a:rPr b="1" lang="es" sz="600"/>
              <a:t>Download Git</a:t>
            </a:r>
            <a:r>
              <a:rPr lang="es" sz="600"/>
              <a:t>.</a:t>
            </a:r>
            <a:endParaRPr sz="600"/>
          </a:p>
          <a:p>
            <a:pPr indent="-266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"/>
              <a:buAutoNum type="arabicPeriod"/>
            </a:pPr>
            <a:r>
              <a:rPr lang="es" sz="600"/>
              <a:t>Instálalo con opciones por defecto.</a:t>
            </a:r>
            <a:endParaRPr sz="600"/>
          </a:p>
          <a:p>
            <a:pPr indent="-266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"/>
              <a:buAutoNum type="arabicPeriod"/>
            </a:pPr>
            <a:r>
              <a:rPr lang="es" sz="600"/>
              <a:t>Reinicia VSCode después.</a:t>
            </a:r>
            <a:endParaRPr sz="600"/>
          </a:p>
          <a:p>
            <a:pPr indent="-266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"/>
              <a:buAutoNum type="arabicPeriod"/>
            </a:pPr>
            <a:r>
              <a:rPr lang="es" sz="600"/>
              <a:t>Configurar Git</a:t>
            </a:r>
            <a:endParaRPr sz="6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600"/>
              <a:t>Para comprobarlo:</a:t>
            </a:r>
            <a:endParaRPr sz="600"/>
          </a:p>
          <a:p>
            <a:pPr indent="-2667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600"/>
              <a:buChar char="●"/>
            </a:pPr>
            <a:r>
              <a:rPr lang="es" sz="600"/>
              <a:t>Abre VSCode</a:t>
            </a:r>
            <a:endParaRPr sz="600"/>
          </a:p>
          <a:p>
            <a:pPr indent="-266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"/>
              <a:buChar char="●"/>
            </a:pPr>
            <a:r>
              <a:rPr lang="es" sz="600"/>
              <a:t>Terminal → Nueva terminal</a:t>
            </a:r>
            <a:endParaRPr sz="600"/>
          </a:p>
          <a:p>
            <a:pPr indent="-266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"/>
              <a:buChar char="●"/>
            </a:pPr>
            <a:r>
              <a:rPr lang="es" sz="600"/>
              <a:t>Escribe:</a:t>
            </a:r>
            <a:endParaRPr sz="6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600"/>
              <a:t>git --version</a:t>
            </a:r>
            <a:endParaRPr sz="6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600"/>
              <a:t>Si aparece una versión, está listo.</a:t>
            </a:r>
            <a:endParaRPr sz="600"/>
          </a:p>
        </p:txBody>
      </p:sp>
      <p:sp>
        <p:nvSpPr>
          <p:cNvPr id="96" name="Google Shape;96;p17"/>
          <p:cNvSpPr txBox="1"/>
          <p:nvPr/>
        </p:nvSpPr>
        <p:spPr>
          <a:xfrm>
            <a:off x="6047550" y="1017725"/>
            <a:ext cx="3000000" cy="11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s" sz="1200"/>
              <a:t>3. Abrir VSCode</a:t>
            </a:r>
            <a:endParaRPr b="1" sz="1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600"/>
              <a:t>Abre Visual Studio Code.</a:t>
            </a:r>
            <a:endParaRPr sz="6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600"/>
              <a:t>En la barra lateral izquierda verás varios iconos. El importante para Git es:</a:t>
            </a:r>
            <a:endParaRPr sz="6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600"/>
              <a:t>🔀 </a:t>
            </a:r>
            <a:r>
              <a:rPr b="1" lang="es" sz="600"/>
              <a:t>Source Control</a:t>
            </a:r>
            <a:r>
              <a:rPr lang="es" sz="600"/>
              <a:t> (Control de código fuente)</a:t>
            </a:r>
            <a:endParaRPr sz="600"/>
          </a:p>
        </p:txBody>
      </p:sp>
      <p:pic>
        <p:nvPicPr>
          <p:cNvPr id="97" name="Google Shape;97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89952" y="2476550"/>
            <a:ext cx="1881800" cy="1788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rchivo:Visual Studio Code 1.35 icon.svg - Wikipedia, la ..." id="98" name="Google Shape;98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45425" y="1449225"/>
            <a:ext cx="908750" cy="908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ChatGPT + VSCode</a:t>
            </a:r>
            <a:endParaRPr/>
          </a:p>
        </p:txBody>
      </p:sp>
      <p:pic>
        <p:nvPicPr>
          <p:cNvPr descr="Archivo:ChatGPT-Logo.svg - Wikipedia, la enciclopedia libre" id="104" name="Google Shape;104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7750" y="2764375"/>
            <a:ext cx="1112248" cy="11122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rchivo:Visual Studio Code 1.35 icon.svg - Wikipedia, la ..." id="105" name="Google Shape;105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7850" y="1531425"/>
            <a:ext cx="912050" cy="912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8"/>
          <p:cNvPicPr preferRelativeResize="0"/>
          <p:nvPr/>
        </p:nvPicPr>
        <p:blipFill rotWithShape="1">
          <a:blip r:embed="rId5">
            <a:alphaModFix/>
          </a:blip>
          <a:srcRect b="0" l="16195" r="15443" t="0"/>
          <a:stretch/>
        </p:blipFill>
        <p:spPr>
          <a:xfrm>
            <a:off x="5943584" y="1503238"/>
            <a:ext cx="2932692" cy="2137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533850" y="1503250"/>
            <a:ext cx="3229667" cy="2137024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8">
            <a:hlinkClick r:id="rId7"/>
          </p:cNvPr>
          <p:cNvSpPr txBox="1"/>
          <p:nvPr/>
        </p:nvSpPr>
        <p:spPr>
          <a:xfrm>
            <a:off x="4198350" y="399305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u="sng">
                <a:solidFill>
                  <a:srgbClr val="FF0000"/>
                </a:solidFill>
              </a:rPr>
              <a:t>https://chatgpt.com/codex/cloud</a:t>
            </a:r>
            <a:endParaRPr u="sng">
              <a:solidFill>
                <a:srgbClr val="FF0000"/>
              </a:solidFill>
            </a:endParaRPr>
          </a:p>
        </p:txBody>
      </p:sp>
      <p:sp>
        <p:nvSpPr>
          <p:cNvPr id="109" name="Google Shape;109;p18"/>
          <p:cNvSpPr txBox="1"/>
          <p:nvPr/>
        </p:nvSpPr>
        <p:spPr>
          <a:xfrm rot="-1929851">
            <a:off x="4396193" y="2209442"/>
            <a:ext cx="3533972" cy="49999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500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rPr>
              <a:t>OPCIONAL</a:t>
            </a:r>
            <a:endParaRPr sz="2500">
              <a:solidFill>
                <a:srgbClr val="FF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pearmint">
  <a:themeElements>
    <a:clrScheme name="Spearmint">
      <a:dk1>
        <a:srgbClr val="202729"/>
      </a:dk1>
      <a:lt1>
        <a:srgbClr val="FFFFFF"/>
      </a:lt1>
      <a:dk2>
        <a:srgbClr val="4BA173"/>
      </a:dk2>
      <a:lt2>
        <a:srgbClr val="63D297"/>
      </a:lt2>
      <a:accent1>
        <a:srgbClr val="353744"/>
      </a:accent1>
      <a:accent2>
        <a:srgbClr val="424242"/>
      </a:accent2>
      <a:accent3>
        <a:srgbClr val="616161"/>
      </a:accent3>
      <a:accent4>
        <a:srgbClr val="999999"/>
      </a:accent4>
      <a:accent5>
        <a:srgbClr val="FF5252"/>
      </a:accent5>
      <a:accent6>
        <a:srgbClr val="FFF176"/>
      </a:accent6>
      <a:hlink>
        <a:srgbClr val="FF5252"/>
      </a:hlink>
      <a:folHlink>
        <a:srgbClr val="FF525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