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029707-CC35-4805-BF48-BC853D751D26}">
  <a:tblStyle styleId="{16029707-CC35-4805-BF48-BC853D751D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5b93a5c4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5b93a5c4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b93a5c4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b93a5c4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b93a5c4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5b93a5c4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5b93a5c41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5b93a5c41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b93a5c41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b93a5c41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b93a5c41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5b93a5c41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b93a5c41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5b93a5c41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3"/>
          <p:cNvCxnSpPr/>
          <p:nvPr/>
        </p:nvCxnSpPr>
        <p:spPr>
          <a:xfrm>
            <a:off x="1702350" y="2784750"/>
            <a:ext cx="57393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2183425" y="3402875"/>
            <a:ext cx="483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Prueba de Concepto</a:t>
            </a:r>
            <a:endParaRPr sz="2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Análisis del Churn</a:t>
            </a:r>
            <a:endParaRPr sz="2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3" title="logos.png"/>
          <p:cNvPicPr preferRelativeResize="0"/>
          <p:nvPr/>
        </p:nvPicPr>
        <p:blipFill rotWithShape="1">
          <a:blip r:embed="rId3">
            <a:alphaModFix/>
          </a:blip>
          <a:srcRect b="16848" l="50000" r="0" t="64844"/>
          <a:stretch/>
        </p:blipFill>
        <p:spPr>
          <a:xfrm>
            <a:off x="840275" y="524625"/>
            <a:ext cx="7463451" cy="18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~10M clientes en Iberia y sur de Europa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Operador integrado (móvil + fibra)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Nacido de consolidación de operadores regionales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Presencia fuerte en zonas urbanas y suburbanas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Red heterogénea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Sistemas legacy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Operación Descentralizada</a:t>
            </a:r>
            <a:endParaRPr b="1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950" y="1850600"/>
            <a:ext cx="3079352" cy="3079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title="logos.png"/>
          <p:cNvPicPr preferRelativeResize="0"/>
          <p:nvPr/>
        </p:nvPicPr>
        <p:blipFill rotWithShape="1">
          <a:blip r:embed="rId4">
            <a:alphaModFix/>
          </a:blip>
          <a:srcRect b="16848" l="50000" r="0" t="64844"/>
          <a:stretch/>
        </p:blipFill>
        <p:spPr>
          <a:xfrm>
            <a:off x="330075" y="132025"/>
            <a:ext cx="5665951" cy="138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Rising Customer Churn is Impacting Profitability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</a:t>
            </a:r>
            <a:r>
              <a:rPr lang="es"/>
              <a:t>ncremento sostenido del churn en los últimos 18 meses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Mayor impacto en zonas con menor calidad de 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Aumento de incidencias y quejas de clientes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Crecimiento de impagos en ciertos segmentos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1815450" y="4275275"/>
            <a:ext cx="553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100"/>
              <a:t>No existe actualmente un sistema robusto de predicción de churn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5022100" y="1170150"/>
            <a:ext cx="4045200" cy="28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Is Churn Driven by Multiple Interacting Factors?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9" name="Google Shape;89;p16"/>
          <p:cNvGrpSpPr/>
          <p:nvPr/>
        </p:nvGrpSpPr>
        <p:grpSpPr>
          <a:xfrm>
            <a:off x="302682" y="1014590"/>
            <a:ext cx="3469045" cy="3387476"/>
            <a:chOff x="2256567" y="677103"/>
            <a:chExt cx="4036590" cy="3941676"/>
          </a:xfrm>
        </p:grpSpPr>
        <p:sp>
          <p:nvSpPr>
            <p:cNvPr id="90" name="Google Shape;90;p16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solidFill>
              <a:srgbClr val="D0E0E3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 rot="-6599386">
              <a:off x="2318596" y="1407533"/>
              <a:ext cx="440541" cy="440541"/>
            </a:xfrm>
            <a:prstGeom prst="ellipse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 rot="-6598620">
              <a:off x="4374916" y="913763"/>
              <a:ext cx="1681581" cy="1681581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 rot="-6597701">
              <a:off x="3267625" y="1113818"/>
              <a:ext cx="274172" cy="274172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2185307" y="1993157"/>
            <a:ext cx="2097108" cy="2097108"/>
            <a:chOff x="4447194" y="1815766"/>
            <a:chExt cx="2440200" cy="2440200"/>
          </a:xfrm>
        </p:grpSpPr>
        <p:sp>
          <p:nvSpPr>
            <p:cNvPr id="97" name="Google Shape;97;p16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blurRad="196453" rotWithShape="0" algn="tl" dir="5400000" dist="43656">
                <a:srgbClr val="000000">
                  <a:alpha val="54900"/>
                </a:srgbClr>
              </a:outerShdw>
            </a:effectLst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4735950" y="2504275"/>
              <a:ext cx="1862700" cy="11634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Customer Frustration</a:t>
              </a:r>
              <a:endParaRPr sz="10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1409951" y="1613550"/>
            <a:ext cx="1223614" cy="1223614"/>
            <a:chOff x="3490737" y="1374053"/>
            <a:chExt cx="1423800" cy="1423800"/>
          </a:xfrm>
        </p:grpSpPr>
        <p:sp>
          <p:nvSpPr>
            <p:cNvPr id="100" name="Google Shape;100;p16"/>
            <p:cNvSpPr/>
            <p:nvPr/>
          </p:nvSpPr>
          <p:spPr>
            <a:xfrm>
              <a:off x="3490737" y="1374053"/>
              <a:ext cx="1423800" cy="142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196453" rotWithShape="0" algn="tl" dir="5400000" dist="43656">
                <a:srgbClr val="000000">
                  <a:alpha val="54900"/>
                </a:srgbClr>
              </a:outerShdw>
            </a:effectLst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3718754" y="1613603"/>
              <a:ext cx="967800" cy="9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5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 Issues</a:t>
              </a:r>
              <a:endParaRPr sz="8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1116677" y="2957874"/>
            <a:ext cx="1288069" cy="1288069"/>
            <a:chOff x="644203" y="3718814"/>
            <a:chExt cx="1498800" cy="1498800"/>
          </a:xfrm>
        </p:grpSpPr>
        <p:sp>
          <p:nvSpPr>
            <p:cNvPr id="103" name="Google Shape;103;p16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196453" rotWithShape="0" algn="tl" dir="5400000" dist="43656">
                <a:srgbClr val="000000">
                  <a:alpha val="54900"/>
                </a:srgbClr>
              </a:outerShdw>
            </a:effectLst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856976" y="3995875"/>
              <a:ext cx="1073400" cy="9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5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Network Quality </a:t>
              </a:r>
              <a:endParaRPr sz="8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3347451" y="1257657"/>
            <a:ext cx="885319" cy="885319"/>
            <a:chOff x="3490737" y="1374053"/>
            <a:chExt cx="1423800" cy="1423800"/>
          </a:xfrm>
        </p:grpSpPr>
        <p:sp>
          <p:nvSpPr>
            <p:cNvPr id="106" name="Google Shape;106;p16"/>
            <p:cNvSpPr/>
            <p:nvPr/>
          </p:nvSpPr>
          <p:spPr>
            <a:xfrm>
              <a:off x="3490737" y="1374053"/>
              <a:ext cx="1423800" cy="1423800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196453" rotWithShape="0" algn="tl" dir="5400000" dist="43656">
                <a:srgbClr val="000000">
                  <a:alpha val="54900"/>
                </a:srgbClr>
              </a:outerShdw>
            </a:effectLst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3718754" y="1613603"/>
              <a:ext cx="967800" cy="944700"/>
            </a:xfrm>
            <a:prstGeom prst="rect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78550" lIns="78550" spcFirstLastPara="1" rIns="78550" wrap="square" tIns="7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65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Support Interactions</a:t>
              </a:r>
              <a:endParaRPr sz="6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Available Data Sources</a:t>
            </a:r>
            <a:endParaRPr/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887325" y="122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{16029707-CC35-4805-BF48-BC853D751D26}</a:tableStyleId>
              </a:tblPr>
              <a:tblGrid>
                <a:gridCol w="2047050"/>
                <a:gridCol w="3620025"/>
                <a:gridCol w="1702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Fuente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Descripción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Nivel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Calidad de red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Métricas por zona y 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Perfil estructural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Facturación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Comportamiento mensual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Cliente-mes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Soporte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Interacciones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Evento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Encuestas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Texto libre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Zona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p17"/>
          <p:cNvSpPr txBox="1"/>
          <p:nvPr/>
        </p:nvSpPr>
        <p:spPr>
          <a:xfrm>
            <a:off x="2381400" y="4413550"/>
            <a:ext cx="438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100"/>
              <a:t>Datos multimodales con estructura temporal y relaciones causales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Objective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/>
              <a:t>Predecir churn a nivel cliente-mes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Identificar drivers de churn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Construir señales tempranas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Proponer palancas para retención de clientes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300" y="1222200"/>
            <a:ext cx="5496750" cy="30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Planning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725"/>
            <a:ext cx="8839200" cy="21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Planning</a:t>
            </a:r>
            <a:endParaRPr/>
          </a:p>
        </p:txBody>
      </p:sp>
      <p:grpSp>
        <p:nvGrpSpPr>
          <p:cNvPr id="133" name="Google Shape;133;p20"/>
          <p:cNvGrpSpPr/>
          <p:nvPr/>
        </p:nvGrpSpPr>
        <p:grpSpPr>
          <a:xfrm>
            <a:off x="91813" y="1581400"/>
            <a:ext cx="8839474" cy="1414725"/>
            <a:chOff x="91813" y="1983300"/>
            <a:chExt cx="8839474" cy="1414725"/>
          </a:xfrm>
        </p:grpSpPr>
        <p:grpSp>
          <p:nvGrpSpPr>
            <p:cNvPr id="134" name="Google Shape;134;p20"/>
            <p:cNvGrpSpPr/>
            <p:nvPr/>
          </p:nvGrpSpPr>
          <p:grpSpPr>
            <a:xfrm>
              <a:off x="91813" y="2068000"/>
              <a:ext cx="8839474" cy="1330026"/>
              <a:chOff x="0" y="3275125"/>
              <a:chExt cx="8839474" cy="1330026"/>
            </a:xfrm>
          </p:grpSpPr>
          <p:pic>
            <p:nvPicPr>
              <p:cNvPr id="135" name="Google Shape;135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83675" y="3275125"/>
                <a:ext cx="7355799" cy="1330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" name="Google Shape;136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0" y="3275125"/>
                <a:ext cx="1483671" cy="133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7" name="Google Shape;13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4575" y="1983300"/>
              <a:ext cx="7366699" cy="84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